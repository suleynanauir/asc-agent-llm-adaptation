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48f0820494d5f" /><Relationship Type="http://schemas.openxmlformats.org/officeDocument/2006/relationships/extended-properties" Target="/docProps/app.xml" Id="Re910c12623614a17" /><Relationship Type="http://schemas.openxmlformats.org/officeDocument/2006/relationships/officeDocument" Target="/ppt/presentation.xml" Id="R8d8600ee0d46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3ef04e7cc404a"/>
  </p:sldMasterIdLst>
  <p:notesMasterIdLst>
    <p:notesMasterId xmlns:r="http://schemas.openxmlformats.org/officeDocument/2006/relationships" r:id="Re91628fe4a424a44"/>
  </p:notesMasterIdLst>
  <p:sldIdLst>
    <p:sldId xmlns:r="http://schemas.openxmlformats.org/officeDocument/2006/relationships" id="256" r:id="R76daee801f104e48"/>
    <p:sldId xmlns:r="http://schemas.openxmlformats.org/officeDocument/2006/relationships" id="257" r:id="Rb7f3a10b061c4f48"/>
    <p:sldId xmlns:r="http://schemas.openxmlformats.org/officeDocument/2006/relationships" id="258" r:id="Ra3f18f09a18a463b"/>
    <p:sldId xmlns:r="http://schemas.openxmlformats.org/officeDocument/2006/relationships" id="259" r:id="R68bd1c23ccd64004"/>
    <p:sldId xmlns:r="http://schemas.openxmlformats.org/officeDocument/2006/relationships" id="260" r:id="R489ce8f2c1294af6"/>
    <p:sldId xmlns:r="http://schemas.openxmlformats.org/officeDocument/2006/relationships" id="261" r:id="R10cac06d49664ed7"/>
    <p:sldId xmlns:r="http://schemas.openxmlformats.org/officeDocument/2006/relationships" id="262" r:id="R25d2e64c1b2346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6f49333336400e" /><Relationship Type="http://schemas.openxmlformats.org/officeDocument/2006/relationships/slideMaster" Target="/ppt/slideMasters/slideMaster1.xml" Id="Rf493ef04e7cc404a" /><Relationship Type="http://schemas.openxmlformats.org/officeDocument/2006/relationships/notesMaster" Target="/ppt/notesMasters/notesMaster1.xml" Id="Re91628fe4a424a44" /><Relationship Type="http://schemas.openxmlformats.org/officeDocument/2006/relationships/presProps" Target="/ppt/presProps.xml" Id="R077df6bf2f314270" /><Relationship Type="http://schemas.openxmlformats.org/officeDocument/2006/relationships/tableStyles" Target="/ppt/tableStyles.xml" Id="Re05f711e3f5d464b" /><Relationship Type="http://schemas.openxmlformats.org/officeDocument/2006/relationships/slide" Target="/ppt/slides/slide1.xml" Id="R76daee801f104e48" /><Relationship Type="http://schemas.openxmlformats.org/officeDocument/2006/relationships/slide" Target="/ppt/slides/slide2.xml" Id="Rb7f3a10b061c4f48" /><Relationship Type="http://schemas.openxmlformats.org/officeDocument/2006/relationships/slide" Target="/ppt/slides/slide3.xml" Id="Ra3f18f09a18a463b" /><Relationship Type="http://schemas.openxmlformats.org/officeDocument/2006/relationships/slide" Target="/ppt/slides/slide4.xml" Id="R68bd1c23ccd64004" /><Relationship Type="http://schemas.openxmlformats.org/officeDocument/2006/relationships/slide" Target="/ppt/slides/slide5.xml" Id="R489ce8f2c1294af6" /><Relationship Type="http://schemas.openxmlformats.org/officeDocument/2006/relationships/slide" Target="/ppt/slides/slide6.xml" Id="R10cac06d49664ed7" /><Relationship Type="http://schemas.openxmlformats.org/officeDocument/2006/relationships/slide" Target="/ppt/slides/slide7.xml" Id="R25d2e64c1b2346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d7a02e7044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330e0e48f4565" /><Relationship Type="http://schemas.openxmlformats.org/officeDocument/2006/relationships/notesMaster" Target="/ppt/notesMasters/notesMaster1.xml" Id="R056b3a48ebff4e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0eed63efe847f3" /><Relationship Type="http://schemas.openxmlformats.org/officeDocument/2006/relationships/notesMaster" Target="/ppt/notesMasters/notesMaster1.xml" Id="Ra9c473c0dc74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b97f901c744acc" /><Relationship Type="http://schemas.openxmlformats.org/officeDocument/2006/relationships/notesMaster" Target="/ppt/notesMasters/notesMaster1.xml" Id="R0a319f4ed40e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00efa325c34dc7" /><Relationship Type="http://schemas.openxmlformats.org/officeDocument/2006/relationships/notesMaster" Target="/ppt/notesMasters/notesMaster1.xml" Id="Rb1acf6b8e77c40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5d97d8090417b" /><Relationship Type="http://schemas.openxmlformats.org/officeDocument/2006/relationships/notesMaster" Target="/ppt/notesMasters/notesMaster1.xml" Id="R3e908804848c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bf4c439c75449e" /><Relationship Type="http://schemas.openxmlformats.org/officeDocument/2006/relationships/notesMaster" Target="/ppt/notesMasters/notesMaster1.xml" Id="Reccad236c539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b19f2ca9d7430b" /><Relationship Type="http://schemas.openxmlformats.org/officeDocument/2006/relationships/notesMaster" Target="/ppt/notesMasters/notesMaster1.xml" Id="Rb18dc3e2848d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沟通目的：说明此次材料领域SFT实际学到了什么、哪些证据尚不足以支持上线，以及下一轮优先修复什么。主要结论采用完整保留prompt、仅截断参考答案的补充评测，按空参考规则排除1条后为95条样本。28.8%是NLL相对降低，不是准确率增长。原训练截断口径95条为25.6%，包含空参考的96条为30.5%；各口径保留的答案tokens不同，不直接排名。未修改模型或重新训练。来源 experiment/results/summary.json。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训练9348条，验证96条；按去空白后的instruction+input分组，seed42，非文档隔离。生成分层抽样seed20261014。QA greedy / max_new_tokens512；诊断greedy / 256；batch4；non-thinking。原模型以同一PeftModel禁用LoRA实现，微调模型启用checkpoint600。模型输出根目录adapter与checkpoint600的SHA256相同：00d82c90b9bf23d3f14f12cb5735b9c7e2e648a9b0409f29123a5f596de809d7。源文件 results/comparison/manifest.json, cases.json, configs/split_manifest.json。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训练总耗时 11850.0854 秒；最后epoch0.68464，不是训练5轮。LoRA rank8/alpha16/dropout0.05/all-linear；batch1*累积8；lr1e-5/cosine/warmup0.05；cutoff1536；FP16。梯度是裁剪前范数，中位数0.341，P95 0.416。第17步grad_norm=NaN，18步起恢复；不能称全程零异常，也不对后续训练稳定性作保证。600与800验证差异极小，单次运行不能认定显著过拟合。来源 results/training/diagnostics/metrics.json, summary.json。W&amp;B https://wandb.ai/suleynanaiur-taiwan/Fine-Tuning4Material/runs/khahvcye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原同款预处理96条中，仅17条保留完整问题，80条prompt token序列被截断；问题完整性通过解码后精确字符串包含检查。补充评测保留完整prompt，余下cutoff1536预算留给参考答案；不重训不改模型。四组n=29/29/22/15，关键词分组非专家标注；95条逐样本NLL均降低，均值1.509612→1.074091，相对28.8499%。配对bootstrap10000次seed20261014，95%区间0.409746–0.467429，条件于已选检查点，未校正选模/文档相关偏差。token加权PPL4.4860→2.9508。空参考qa-04126按事后规则剔除，但原始结果保留。原截断95条降幅25.6%、原96条30.5%；两截断口径答案tokens不同，不直接以loss高低排名。来源 results/full_prompt_nll/nll.json, results/comparison/prompt_coverage.json, 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A四组各6题，其中qa-04126参考为空，不计入重合度，仍保存回答及计入生成耗时/截断。字符指标先casefold再保留isalnum字符，ROUGE-L用LCS的F1，非rougeLsum；以完整参考为基准，输出有512token上限。23条配对ROUGE-L提高约2.50分（满分100），bootstrap区间约1.55到3.28分，不能解释为事实准确率提高。展示的qa-02385为事后选取的风险示例，不具有代表性，不据此量化领域准确率。完整40组对照见report/answer_comparisons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条题目均新编，精确去空白问题未出现在训练集。严格JSON解析不去Markdown代码围栏；要求键集合、值类型与期望一致（整数/浮点数值相等允许）。原模型失败probe08（数值字符串）、09（expression不精确）、11（误选calculator）；微调失败05（JSON代码围栏）、09、11。净通过率均81.25%，只是16条诊断的观察，不是统计等效性或无遗忘证明。所有期望和原始回答见 results/comparison/cases.json, generation.json, scored_generation.json。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审计源9444条，43条output为空，其中42训练/1验证；input全部为空，因此依赖“输入文本”的问句可能缺少条件，但不能自动认定所有题目不可答。96条验证中80条源prompt被截断，79条完整问题不再保留，仅17条完整问题保留；另外79条参考答案也被截断。长system加source/target比例分配是原因，详见同款processor审计。下一轮应压缩system或提高序列预算并逐条验证问题保留，不能单纯增加训练轮数。推理性能来自六批24题，每批4题，greedy512，预热排除，FP16/SDPA，base与unmerged LoRA顺序测量；不是服务压力测试，不能证明合并后仍慢。训练与评测已经结束，没有自动清洗原数据、重训、修改checkpoint或推送Git。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321806a5842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1cfbcb3e54cdf" /><Relationship Type="http://schemas.openxmlformats.org/officeDocument/2006/relationships/slideLayout" Target="/ppt/slideLayouts/slideLayout1.xml" Id="Rb02bddcc31574c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bddcc31574c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8dd4555af40b1" /><Relationship Type="http://schemas.openxmlformats.org/officeDocument/2006/relationships/notesSlide" Target="/ppt/notesSlides/notesSlide1.xml" Id="Rb791c9e77de4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29142b9442f9" /><Relationship Type="http://schemas.openxmlformats.org/officeDocument/2006/relationships/notesSlide" Target="/ppt/notesSlides/notesSlide2.xml" Id="R220a7d046212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575371e114494" /><Relationship Type="http://schemas.openxmlformats.org/officeDocument/2006/relationships/image" Target="/ppt/media/image.png" Id="Rae6c5c32e8384b55" /><Relationship Type="http://schemas.openxmlformats.org/officeDocument/2006/relationships/notesSlide" Target="/ppt/notesSlides/notesSlide3.xml" Id="Ra842b43af04e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2dfd5a18047e7" /><Relationship Type="http://schemas.openxmlformats.org/officeDocument/2006/relationships/image" Target="/ppt/media/image2.png" Id="R120bb4b591ac4228" /><Relationship Type="http://schemas.openxmlformats.org/officeDocument/2006/relationships/notesSlide" Target="/ppt/notesSlides/notesSlide4.xml" Id="Rbc4943703ada43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31d128c284acf" /><Relationship Type="http://schemas.openxmlformats.org/officeDocument/2006/relationships/notesSlide" Target="/ppt/notesSlides/notesSlide5.xml" Id="R91e63715999248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e6b3ca0f24032" /><Relationship Type="http://schemas.openxmlformats.org/officeDocument/2006/relationships/image" Target="/ppt/media/image3.png" Id="Rf2ff9edcf6e04909" /><Relationship Type="http://schemas.openxmlformats.org/officeDocument/2006/relationships/notesSlide" Target="/ppt/notesSlides/notesSlide6.xml" Id="Re598cb24f48041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749e5372143b1" /><Relationship Type="http://schemas.openxmlformats.org/officeDocument/2006/relationships/notesSlide" Target="/ppt/notesSlides/notesSlide7.xml" Id="Rcbd09fc66a6142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2FA05B9-BC7C-476A-A327-B2EEFD37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477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研究进展复盘  /  2026.10.14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CD37932-C1EB-4441-BA3F-30F428D7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项目材料领域
微调前后对比实验</a:t>
            </a:r>
          </a:p>
        </p:txBody>
      </p:sp>
      <p:sp>
        <p:nvSpPr>
          <p:cNvPr id="3" name="model">
            <a:extLst xmlns:a="http://schemas.openxmlformats.org/drawingml/2006/main">
              <a:ext uri="{FF2B5EF4-FFF2-40B4-BE49-F238E27FC236}">
                <a16:creationId xmlns:a16="http://schemas.microsoft.com/office/drawing/2014/main" id="{DE1F9426-46C9-44BB-894E-5AB2CDF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Qwen3-8B × LoRA  ·  V100S 32 GB</a:t>
            </a:r>
          </a:p>
        </p:txBody>
      </p:sp>
      <p:sp>
        <p:nvSpPr>
          <p:cNvPr id="4" name="finding">
            <a:extLst xmlns:a="http://schemas.openxmlformats.org/drawingml/2006/main">
              <a:ext uri="{FF2B5EF4-FFF2-40B4-BE49-F238E27FC236}">
                <a16:creationId xmlns:a16="http://schemas.microsoft.com/office/drawing/2014/main" id="{7F3C1539-43DE-4164-A63A-DC009D8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完整问题口径：验证 NLL 降低 28.8%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53B9AE32-AA29-4396-A530-4B06703F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领域答案拟合改善；需先修复问题截断，再做独立验收。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51CEAE2-5B52-4868-9F63-43DE6727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基于真实训练日志与成对推理结果，不以 loss 代替事实准确率。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A60737-C530-443A-AC4A-379FD97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054441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C3313546-9659-40DA-85D1-64900A0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  /  实验设计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4BB16F-0E4D-4635-A0EF-6DFCC2D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先固定比较口径，再判断训练收益</a:t>
            </a:r>
          </a:p>
        </p:txBody>
      </p:sp>
      <p:sp>
        <p:nvSpPr>
          <p:cNvPr id="3" name="nll-n">
            <a:extLst xmlns:a="http://schemas.openxmlformats.org/drawingml/2006/main">
              <a:ext uri="{FF2B5EF4-FFF2-40B4-BE49-F238E27FC236}">
                <a16:creationId xmlns:a16="http://schemas.microsoft.com/office/drawing/2014/main" id="{E763DA7F-3287-42D3-8D1D-EDAB462D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190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96 → 95</a:t>
            </a:r>
          </a:p>
        </p:txBody>
      </p:sp>
      <p:sp>
        <p:nvSpPr>
          <p:cNvPr id="4" name="nll-head">
            <a:extLst xmlns:a="http://schemas.openxmlformats.org/drawingml/2006/main">
              <a:ext uri="{FF2B5EF4-FFF2-40B4-BE49-F238E27FC236}">
                <a16:creationId xmlns:a16="http://schemas.microsoft.com/office/drawing/2014/main" id="{A716E2CA-E2C1-4893-82D5-432ED6FA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190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验证损失配对</a:t>
            </a:r>
          </a:p>
        </p:txBody>
      </p:sp>
      <p:sp>
        <p:nvSpPr>
          <p:cNvPr id="5" name="nll-body">
            <a:extLst xmlns:a="http://schemas.openxmlformats.org/drawingml/2006/main">
              <a:ext uri="{FF2B5EF4-FFF2-40B4-BE49-F238E27FC236}">
                <a16:creationId xmlns:a16="http://schemas.microsoft.com/office/drawing/2014/main" id="{560C8C24-B0C6-4798-A1FF-9F1D670D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19087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原留出集 96 条，
排除 1 条空参考。
完整保留问题后重测。</a:t>
            </a:r>
          </a:p>
        </p:txBody>
      </p:sp>
      <p:sp>
        <p:nvSpPr>
          <p:cNvPr id="6" name="qa-n">
            <a:extLst xmlns:a="http://schemas.openxmlformats.org/drawingml/2006/main">
              <a:ext uri="{FF2B5EF4-FFF2-40B4-BE49-F238E27FC236}">
                <a16:creationId xmlns:a16="http://schemas.microsoft.com/office/drawing/2014/main" id="{6D944942-DCE0-4A6B-B543-2872D1D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3190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24 → 23</a:t>
            </a:r>
          </a:p>
        </p:txBody>
      </p:sp>
      <p:sp>
        <p:nvSpPr>
          <p:cNvPr id="7" name="qa-head">
            <a:extLst xmlns:a="http://schemas.openxmlformats.org/drawingml/2006/main">
              <a:ext uri="{FF2B5EF4-FFF2-40B4-BE49-F238E27FC236}">
                <a16:creationId xmlns:a16="http://schemas.microsoft.com/office/drawing/2014/main" id="{151F0AA7-A242-4F02-9AD4-6F0AB84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52725"/>
            <a:ext cx="3190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开放式回答比较</a:t>
            </a:r>
          </a:p>
        </p:txBody>
      </p:sp>
      <p:sp>
        <p:nvSpPr>
          <p:cNvPr id="8" name="qa-body">
            <a:extLst xmlns:a="http://schemas.openxmlformats.org/drawingml/2006/main">
              <a:ext uri="{FF2B5EF4-FFF2-40B4-BE49-F238E27FC236}">
                <a16:creationId xmlns:a16="http://schemas.microsoft.com/office/drawing/2014/main" id="{E989B20A-4347-4409-9240-7D443CF7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81375"/>
            <a:ext cx="319087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四类问题各抽 6 条。
全部保存成对回答；
23 条非空参考计分。</a:t>
            </a:r>
          </a:p>
        </p:txBody>
      </p:sp>
      <p:sp>
        <p:nvSpPr>
          <p:cNvPr id="9" name="probe-n">
            <a:extLst xmlns:a="http://schemas.openxmlformats.org/drawingml/2006/main">
              <a:ext uri="{FF2B5EF4-FFF2-40B4-BE49-F238E27FC236}">
                <a16:creationId xmlns:a16="http://schemas.microsoft.com/office/drawing/2014/main" id="{56EC8301-6EF1-4EAF-9D44-6100E9C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190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16</a:t>
            </a:r>
          </a:p>
        </p:txBody>
      </p:sp>
      <p:sp>
        <p:nvSpPr>
          <p:cNvPr id="10" name="probe-head">
            <a:extLst xmlns:a="http://schemas.openxmlformats.org/drawingml/2006/main">
              <a:ext uri="{FF2B5EF4-FFF2-40B4-BE49-F238E27FC236}">
                <a16:creationId xmlns:a16="http://schemas.microsoft.com/office/drawing/2014/main" id="{DBCD7EC6-B87C-4705-8335-9627A0D3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52725"/>
            <a:ext cx="3190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新编指令诊断</a:t>
            </a:r>
          </a:p>
        </p:txBody>
      </p:sp>
      <p:sp>
        <p:nvSpPr>
          <p:cNvPr id="11" name="probe-body">
            <a:extLst xmlns:a="http://schemas.openxmlformats.org/drawingml/2006/main">
              <a:ext uri="{FF2B5EF4-FFF2-40B4-BE49-F238E27FC236}">
                <a16:creationId xmlns:a16="http://schemas.microsoft.com/office/drawing/2014/main" id="{51486A8B-3ACA-48BF-8182-9F8F50C2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19087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提取 / 计算 / 工具路由
及缺失证据处理。
按严格 JSON 规则计分。</a:t>
            </a:r>
          </a:p>
        </p:txBody>
      </p:sp>
      <p:sp>
        <p:nvSpPr>
          <p:cNvPr id="12" name="controlled">
            <a:extLst xmlns:a="http://schemas.openxmlformats.org/drawingml/2006/main">
              <a:ext uri="{FF2B5EF4-FFF2-40B4-BE49-F238E27FC236}">
                <a16:creationId xmlns:a16="http://schemas.microsoft.com/office/drawing/2014/main" id="{E53846A4-5665-4FB0-8192-75BDAF7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共同条件：相同基模、提示、FP16、SDPA；微调侧固定 checkpoint-600。</a:t>
            </a:r>
          </a:p>
        </p:txBody>
      </p:sp>
      <p:sp>
        <p:nvSpPr>
          <p:cNvPr id="13" name="selection">
            <a:extLst xmlns:a="http://schemas.openxmlformats.org/drawingml/2006/main">
              <a:ext uri="{FF2B5EF4-FFF2-40B4-BE49-F238E27FC236}">
                <a16:creationId xmlns:a16="http://schemas.microsoft.com/office/drawing/2014/main" id="{0D9261D4-6537-4546-B5BD-70697866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验证集参与过选模，并非独立测试集；新编诊断也不是标准 Agent 基准。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E84EDBE4-A214-4247-8D32-A04C15E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906302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D23767D-F527-4AFA-B0F4-8A90E4D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  /  训练稳定性与检查点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EF5B9C-9318-4537-B806-508E6F5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训练进入平台期，但并非全程无异常</a:t>
            </a:r>
          </a:p>
        </p:txBody>
      </p:sp>
      <p:sp>
        <p:nvSpPr>
          <p:cNvPr id="3" name="train-runtime">
            <a:extLst xmlns:a="http://schemas.openxmlformats.org/drawingml/2006/main">
              <a:ext uri="{FF2B5EF4-FFF2-40B4-BE49-F238E27FC236}">
                <a16:creationId xmlns:a16="http://schemas.microsoft.com/office/drawing/2014/main" id="{8AB8F5D8-7694-4E56-8C58-BB47AB8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3028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800 步 / 3h18m</a:t>
            </a:r>
          </a:p>
        </p:txBody>
      </p:sp>
      <p:sp>
        <p:nvSpPr>
          <p:cNvPr id="4" name="best">
            <a:extLst xmlns:a="http://schemas.openxmlformats.org/drawingml/2006/main">
              <a:ext uri="{FF2B5EF4-FFF2-40B4-BE49-F238E27FC236}">
                <a16:creationId xmlns:a16="http://schemas.microsoft.com/office/drawing/2014/main" id="{110D1117-8622-4886-86DE-BAA0B439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19375"/>
            <a:ext cx="3028950" cy="1514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最佳为第 600 步。
验证 loss：
600 步  1.18506
800 步  1.18550</a:t>
            </a:r>
          </a:p>
        </p:txBody>
      </p:sp>
      <p:sp>
        <p:nvSpPr>
          <p:cNvPr id="5" name="nonfinite">
            <a:extLst xmlns:a="http://schemas.openxmlformats.org/drawingml/2006/main">
              <a:ext uri="{FF2B5EF4-FFF2-40B4-BE49-F238E27FC236}">
                <a16:creationId xmlns:a16="http://schemas.microsoft.com/office/drawing/2014/main" id="{33164152-3E45-4DDD-9BDA-0DAD5C6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29125"/>
            <a:ext cx="302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1 次非有限梯度</a:t>
            </a:r>
          </a:p>
        </p:txBody>
      </p:sp>
      <p:sp>
        <p:nvSpPr>
          <p:cNvPr id="6" name="recovery">
            <a:extLst xmlns:a="http://schemas.openxmlformats.org/drawingml/2006/main">
              <a:ext uri="{FF2B5EF4-FFF2-40B4-BE49-F238E27FC236}">
                <a16:creationId xmlns:a16="http://schemas.microsoft.com/office/drawing/2014/main" id="{E29AB565-ED43-4AD2-9A91-3871BF85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38725"/>
            <a:ext cx="3028950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第 17 步出现 NaN；
第 18 步恢复有限。
800 条 loss 均有限。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0D06B3E0-8C64-4FD8-AD64-F9B38DD1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来源：800 步训练日志；图中验证口径为原始 96 条，包含 1 条空参考。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C19EE7B-3EF7-4146-9B05-097F87BC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 / 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c5c32e8384b55"/>
          <a:stretch xmlns:a="http://schemas.openxmlformats.org/drawingml/2006/main"/>
        </p:blipFill>
        <p:spPr>
          <a:xfrm xmlns:a="http://schemas.openxmlformats.org/drawingml/2006/main">
            <a:off x="651164" y="1743075"/>
            <a:ext cx="74035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367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59BD934-8B06-4AAD-9247-F32408BD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  /  完整问题保留的补充实验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AD4A32-D5C7-476A-8883-D1D168C3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保留完整问题后，参考拟合仍有改善</a:t>
            </a:r>
          </a:p>
        </p:txBody>
      </p:sp>
      <p:sp>
        <p:nvSpPr>
          <p:cNvPr id="3" name="gain">
            <a:extLst xmlns:a="http://schemas.openxmlformats.org/drawingml/2006/main">
              <a:ext uri="{FF2B5EF4-FFF2-40B4-BE49-F238E27FC236}">
                <a16:creationId xmlns:a16="http://schemas.microsoft.com/office/drawing/2014/main" id="{AA53361E-A720-434C-BF82-19288B8B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14525"/>
            <a:ext cx="2952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28.8%</a:t>
            </a:r>
          </a:p>
        </p:txBody>
      </p:sp>
      <p:sp>
        <p:nvSpPr>
          <p:cNvPr id="4" name="gain-label">
            <a:extLst xmlns:a="http://schemas.openxmlformats.org/drawingml/2006/main">
              <a:ext uri="{FF2B5EF4-FFF2-40B4-BE49-F238E27FC236}">
                <a16:creationId xmlns:a16="http://schemas.microsoft.com/office/drawing/2014/main" id="{4B83ED0A-54B6-4450-AE67-B97A2770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00350"/>
            <a:ext cx="295275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平均 NLL 相对降低</a:t>
            </a:r>
          </a:p>
        </p:txBody>
      </p:sp>
      <p:sp>
        <p:nvSpPr>
          <p:cNvPr id="5" name="nll">
            <a:extLst xmlns:a="http://schemas.openxmlformats.org/drawingml/2006/main">
              <a:ext uri="{FF2B5EF4-FFF2-40B4-BE49-F238E27FC236}">
                <a16:creationId xmlns:a16="http://schemas.microsoft.com/office/drawing/2014/main" id="{51FA813B-7055-4EFB-8EBB-670891C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43275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1.510 → 1.074</a:t>
            </a:r>
          </a:p>
        </p:txBody>
      </p:sp>
      <p:sp>
        <p:nvSpPr>
          <p:cNvPr id="6" name="paired">
            <a:extLst xmlns:a="http://schemas.openxmlformats.org/drawingml/2006/main">
              <a:ext uri="{FF2B5EF4-FFF2-40B4-BE49-F238E27FC236}">
                <a16:creationId xmlns:a16="http://schemas.microsoft.com/office/drawing/2014/main" id="{70E4162F-218C-4F88-8344-4594CDF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71950"/>
            <a:ext cx="2952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95 / 95</a:t>
            </a:r>
          </a:p>
        </p:txBody>
      </p:sp>
      <p:sp>
        <p:nvSpPr>
          <p:cNvPr id="7" name="paired-label">
            <a:extLst xmlns:a="http://schemas.openxmlformats.org/drawingml/2006/main">
              <a:ext uri="{FF2B5EF4-FFF2-40B4-BE49-F238E27FC236}">
                <a16:creationId xmlns:a16="http://schemas.microsoft.com/office/drawing/2014/main" id="{0A2EC8D4-30F4-4F0D-A354-19735F2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387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有效参考样本均改善</a:t>
            </a:r>
          </a:p>
        </p:txBody>
      </p:sp>
      <p:sp>
        <p:nvSpPr>
          <p:cNvPr id="8" name="ci">
            <a:extLst xmlns:a="http://schemas.openxmlformats.org/drawingml/2006/main">
              <a:ext uri="{FF2B5EF4-FFF2-40B4-BE49-F238E27FC236}">
                <a16:creationId xmlns:a16="http://schemas.microsoft.com/office/drawing/2014/main" id="{47C61077-2F07-4899-9798-8FE9FE6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43525"/>
            <a:ext cx="2952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配对降幅 95% 区间
0.410–0.467 NLL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8AE2DB69-213E-4F8A-9B5F-C7A626BC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完整保留问题、只截断参考答案；95 条非空参考，同一模型，不重新训练。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2B18DE18-4038-41FE-9CC9-DE5B87A7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 / 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bb4b591ac4228"/>
          <a:stretch xmlns:a="http://schemas.openxmlformats.org/drawingml/2006/main"/>
        </p:blipFill>
        <p:spPr>
          <a:xfrm xmlns:a="http://schemas.openxmlformats.org/drawingml/2006/main">
            <a:off x="705716" y="1790700"/>
            <a:ext cx="7294418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4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486EE45-FBD9-4FA3-B002-B6ACE8B8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  /  开放式 QA 与具体回答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39EDCD-62E2-492A-821C-4B15933B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回答更贴近参考，但仍需领域复核</a:t>
            </a:r>
          </a:p>
        </p:txBody>
      </p:sp>
      <p:sp>
        <p:nvSpPr>
          <p:cNvPr id="3" name="rouge">
            <a:extLst xmlns:a="http://schemas.openxmlformats.org/drawingml/2006/main">
              <a:ext uri="{FF2B5EF4-FFF2-40B4-BE49-F238E27FC236}">
                <a16:creationId xmlns:a16="http://schemas.microsoft.com/office/drawing/2014/main" id="{0CD6C7F4-A983-42FC-9AFB-010814D8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60007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字符 ROUGE-L：19.9 → 22.4</a:t>
            </a:r>
          </a:p>
        </p:txBody>
      </p:sp>
      <p:sp>
        <p:nvSpPr>
          <p:cNvPr id="4" name="cap">
            <a:extLst xmlns:a="http://schemas.openxmlformats.org/drawingml/2006/main">
              <a:ext uri="{FF2B5EF4-FFF2-40B4-BE49-F238E27FC236}">
                <a16:creationId xmlns:a16="http://schemas.microsoft.com/office/drawing/2014/main" id="{23A1B0F8-348F-40D6-B168-55F3971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04975"/>
            <a:ext cx="47053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触及上限：24/24 → 19/24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46D494F7-E76C-4AEF-A57C-5C0CF829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同题示例：ASC 浇注料如何控制振动时间？</a:t>
            </a:r>
          </a:p>
        </p:txBody>
      </p:sp>
      <p:sp>
        <p:nvSpPr>
          <p:cNvPr id="6" name="base-head">
            <a:extLst xmlns:a="http://schemas.openxmlformats.org/drawingml/2006/main">
              <a:ext uri="{FF2B5EF4-FFF2-40B4-BE49-F238E27FC236}">
                <a16:creationId xmlns:a16="http://schemas.microsoft.com/office/drawing/2014/main" id="{64FB478A-BED9-4135-974A-B826041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2006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77818C"/>
                </a:solidFill>
                <a:latin typeface="Arial Unicode MS"/>
                <a:ea typeface="Arial Unicode MS"/>
                <a:cs typeface="Arial Unicode MS"/>
              </a:defRPr>
            </a:pPr>
            <a:r>
              <a:t>微调前</a:t>
            </a:r>
          </a:p>
        </p:txBody>
      </p:sp>
      <p:sp>
        <p:nvSpPr>
          <p:cNvPr id="7" name="tuned-head">
            <a:extLst xmlns:a="http://schemas.openxmlformats.org/drawingml/2006/main">
              <a:ext uri="{FF2B5EF4-FFF2-40B4-BE49-F238E27FC236}">
                <a16:creationId xmlns:a16="http://schemas.microsoft.com/office/drawing/2014/main" id="{E9A09DE9-CCB4-4D0D-B99E-7DA99FD6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52006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微调后</a:t>
            </a:r>
          </a:p>
        </p:txBody>
      </p:sp>
      <p:sp>
        <p:nvSpPr>
          <p:cNvPr id="8" name="base-quote">
            <a:extLst xmlns:a="http://schemas.openxmlformats.org/drawingml/2006/main">
              <a:ext uri="{FF2B5EF4-FFF2-40B4-BE49-F238E27FC236}">
                <a16:creationId xmlns:a16="http://schemas.microsoft.com/office/drawing/2014/main" id="{091A3E37-8DD2-4B10-9289-A6EC9D5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006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在ASC（Al₂O₃–SiC–C）浇注料施工过程中，振动时间的控制是影响材料致密度与均匀性的关键工艺参数之一。通过合理控制振动时间，可以有效改善材料的微观结构，提升其高温性能与服役寿命。……</a:t>
            </a:r>
          </a:p>
        </p:txBody>
      </p:sp>
      <p:sp>
        <p:nvSpPr>
          <p:cNvPr id="9" name="tuned-quote">
            <a:extLst xmlns:a="http://schemas.openxmlformats.org/drawingml/2006/main">
              <a:ext uri="{FF2B5EF4-FFF2-40B4-BE49-F238E27FC236}">
                <a16:creationId xmlns:a16="http://schemas.microsoft.com/office/drawing/2014/main" id="{A25EFC36-4ABE-4F5D-9E80-8785E72C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52006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在ASC（Al₂O₃-SiC-C，即铝-碳化硅-碳）浇注料施工过程中，振动时间是影响材料致密度与均匀性的关键工艺参数。通过科学控制振动时间，可以有效提升材料的密实度、减少气孔率，并改善内部结构的均匀性。……</a:t>
            </a:r>
          </a:p>
        </p:txBody>
      </p:sp>
      <p:sp>
        <p:nvSpPr>
          <p:cNvPr id="10" name="review">
            <a:extLst xmlns:a="http://schemas.openxmlformats.org/drawingml/2006/main">
              <a:ext uri="{FF2B5EF4-FFF2-40B4-BE49-F238E27FC236}">
                <a16:creationId xmlns:a16="http://schemas.microsoft.com/office/drawing/2014/main" id="{CA59F76D-A04D-4674-ABE2-B13AEA3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微调后出现“Al₂O₃…即铝”的表述，仍需术语核查；重合度不是正确率。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2F1E880C-271B-4328-95D2-73C98E13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参考重合度 n=23；截断统计 n=24，512 tokens。示例 qa-02385，省略后文。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C234ACF9-A114-459D-A722-E66D5278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05 / 07</a:t>
            </a:r>
          </a:p>
        </p:txBody>
      </p:sp>
    </p:spTree>
    <p:extLst>
      <p:ext uri="{BB962C8B-B14F-4D97-AF65-F5344CB8AC3E}">
        <p14:creationId xmlns:p14="http://schemas.microsoft.com/office/powerpoint/2010/main" val="1997695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5FD780A-46BA-4042-A4F2-1A6F4F4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05  /  结构化输出与工具选择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4F3A8E-ECF1-4E9A-8A9C-E4A6707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Agent 相关小样本未显示净提升</a:t>
            </a:r>
          </a:p>
        </p:txBody>
      </p:sp>
      <p:sp>
        <p:nvSpPr>
          <p:cNvPr id="3" name="pass-label">
            <a:extLst xmlns:a="http://schemas.openxmlformats.org/drawingml/2006/main">
              <a:ext uri="{FF2B5EF4-FFF2-40B4-BE49-F238E27FC236}">
                <a16:creationId xmlns:a16="http://schemas.microsoft.com/office/drawing/2014/main" id="{91BD8924-E762-4FC2-BFA4-1CB78CD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3357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严格通过数</a:t>
            </a:r>
          </a:p>
        </p:txBody>
      </p:sp>
      <p:sp>
        <p:nvSpPr>
          <p:cNvPr id="4" name="pass">
            <a:extLst xmlns:a="http://schemas.openxmlformats.org/drawingml/2006/main">
              <a:ext uri="{FF2B5EF4-FFF2-40B4-BE49-F238E27FC236}">
                <a16:creationId xmlns:a16="http://schemas.microsoft.com/office/drawing/2014/main" id="{3C1B68F0-C1B8-40F6-9D1C-EBA7369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76500"/>
            <a:ext cx="2952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13/16 → 13/16</a:t>
            </a:r>
          </a:p>
        </p:txBody>
      </p:sp>
      <p:sp>
        <p:nvSpPr>
          <p:cNvPr id="5" name="json-label">
            <a:extLst xmlns:a="http://schemas.openxmlformats.org/drawingml/2006/main">
              <a:ext uri="{FF2B5EF4-FFF2-40B4-BE49-F238E27FC236}">
                <a16:creationId xmlns:a16="http://schemas.microsoft.com/office/drawing/2014/main" id="{4AF87B8C-3F2D-475F-B5B0-4710501B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6232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纯 JSON 可解析数</a:t>
            </a:r>
          </a:p>
        </p:txBody>
      </p:sp>
      <p:sp>
        <p:nvSpPr>
          <p:cNvPr id="6" name="json">
            <a:extLst xmlns:a="http://schemas.openxmlformats.org/drawingml/2006/main">
              <a:ext uri="{FF2B5EF4-FFF2-40B4-BE49-F238E27FC236}">
                <a16:creationId xmlns:a16="http://schemas.microsoft.com/office/drawing/2014/main" id="{225BB195-5E38-4BAA-A8DB-B912239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76675"/>
            <a:ext cx="295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16/16 → 15/16</a:t>
            </a:r>
          </a:p>
        </p:txBody>
      </p:sp>
      <p:sp>
        <p:nvSpPr>
          <p:cNvPr id="7" name="route-fail">
            <a:extLst xmlns:a="http://schemas.openxmlformats.org/drawingml/2006/main">
              <a:ext uri="{FF2B5EF4-FFF2-40B4-BE49-F238E27FC236}">
                <a16:creationId xmlns:a16="http://schemas.microsoft.com/office/drawing/2014/main" id="{86A0C7F5-F099-4B93-AF1E-CF731E2F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914900"/>
            <a:ext cx="2952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缺少原始强度时，
两者均误选 calculator，
没有转向 ask_user。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84F278B2-6512-424F-A74A-981CDD07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每类 4 题；规则评分只测字段/格式/选择，不实际调用工具，不代表完整 Agent 能力。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432307D1-E75C-443A-B7B6-EC202B5D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06 / 07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f9edcf6e04909"/>
          <a:stretch xmlns:a="http://schemas.openxmlformats.org/drawingml/2006/main"/>
        </p:blipFill>
        <p:spPr>
          <a:xfrm xmlns:a="http://schemas.openxmlformats.org/drawingml/2006/main">
            <a:off x="651164" y="1771650"/>
            <a:ext cx="74035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38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3FAE073-6E30-4633-AD26-4A84F65A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06  /  决策与下一步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CF65F9-CF18-456D-829B-0332D904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下一轮先修数据，再做独立验收</a:t>
            </a:r>
          </a:p>
        </p:txBody>
      </p:sp>
      <p:sp>
        <p:nvSpPr>
          <p:cNvPr id="3" name="data-head">
            <a:extLst xmlns:a="http://schemas.openxmlformats.org/drawingml/2006/main">
              <a:ext uri="{FF2B5EF4-FFF2-40B4-BE49-F238E27FC236}">
                <a16:creationId xmlns:a16="http://schemas.microsoft.com/office/drawing/2014/main" id="{97211825-5713-43A9-8260-766C3738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1908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先修数据</a:t>
            </a:r>
          </a:p>
        </p:txBody>
      </p:sp>
      <p:sp>
        <p:nvSpPr>
          <p:cNvPr id="4" name="data-body">
            <a:extLst xmlns:a="http://schemas.openxmlformats.org/drawingml/2006/main">
              <a:ext uri="{FF2B5EF4-FFF2-40B4-BE49-F238E27FC236}">
                <a16:creationId xmlns:a16="http://schemas.microsoft.com/office/drawing/2014/main" id="{4F303E92-2A52-4F30-AD13-4D5438DA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190875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完整问题仅保留 17/96
空答案 43 条（训练 42）
先修截断，再清洗数据
复核材料术语与机理</a:t>
            </a:r>
          </a:p>
        </p:txBody>
      </p:sp>
      <p:sp>
        <p:nvSpPr>
          <p:cNvPr id="5" name="eval-head">
            <a:extLst xmlns:a="http://schemas.openxmlformats.org/drawingml/2006/main">
              <a:ext uri="{FF2B5EF4-FFF2-40B4-BE49-F238E27FC236}">
                <a16:creationId xmlns:a16="http://schemas.microsoft.com/office/drawing/2014/main" id="{8D77935F-EAF6-43AF-9821-DC547330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71675"/>
            <a:ext cx="31908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独立验收</a:t>
            </a:r>
          </a:p>
        </p:txBody>
      </p:sp>
      <p:sp>
        <p:nvSpPr>
          <p:cNvPr id="6" name="eval-body">
            <a:extLst xmlns:a="http://schemas.openxmlformats.org/drawingml/2006/main">
              <a:ext uri="{FF2B5EF4-FFF2-40B4-BE49-F238E27FC236}">
                <a16:creationId xmlns:a16="http://schemas.microsoft.com/office/drawing/2014/main" id="{08EF05BF-EE95-4CB9-BE12-3671E85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190875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按文档隔离测试集
专家核验材料机理与事实
补充完整长回答评估
加入真实工具调用任务</a:t>
            </a:r>
          </a:p>
        </p:txBody>
      </p:sp>
      <p:sp>
        <p:nvSpPr>
          <p:cNvPr id="7" name="deploy-head">
            <a:extLst xmlns:a="http://schemas.openxmlformats.org/drawingml/2006/main">
              <a:ext uri="{FF2B5EF4-FFF2-40B4-BE49-F238E27FC236}">
                <a16:creationId xmlns:a16="http://schemas.microsoft.com/office/drawing/2014/main" id="{D5E42693-80B6-42BA-B11F-6BC7F0FB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31908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确认部署成本</a:t>
            </a:r>
          </a:p>
        </p:txBody>
      </p:sp>
      <p:sp>
        <p:nvSpPr>
          <p:cNvPr id="8" name="deploy-body">
            <a:extLst xmlns:a="http://schemas.openxmlformats.org/drawingml/2006/main">
              <a:ext uri="{FF2B5EF4-FFF2-40B4-BE49-F238E27FC236}">
                <a16:creationId xmlns:a16="http://schemas.microsoft.com/office/drawing/2014/main" id="{5B5F5C31-DF83-43DA-9ED5-E96071AD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90875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D252D"/>
                </a:solidFill>
                <a:latin typeface="Arial Unicode MS"/>
                <a:ea typeface="Arial Unicode MS"/>
                <a:cs typeface="Arial Unicode MS"/>
              </a:defRPr>
            </a:pPr>
            <a:r>
              <a:t>未合并 LoRA / batch=4
原始：79.8 tokens/s
微调：44.7 tokens/s
合并后性能需另行实测</a:t>
            </a:r>
          </a:p>
        </p:txBody>
      </p:sp>
      <p:sp>
        <p:nvSpPr>
          <p:cNvPr id="9" name="decision">
            <a:extLst xmlns:a="http://schemas.openxmlformats.org/drawingml/2006/main">
              <a:ext uri="{FF2B5EF4-FFF2-40B4-BE49-F238E27FC236}">
                <a16:creationId xmlns:a16="http://schemas.microsoft.com/office/drawing/2014/main" id="{A0E1E68B-05DB-4645-A2ED-279AB161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15B2C"/>
                </a:solidFill>
                <a:latin typeface="Arial Unicode MS"/>
                <a:ea typeface="Arial Unicode MS"/>
                <a:cs typeface="Arial Unicode MS"/>
              </a:defRPr>
            </a:pPr>
            <a:r>
              <a:t>保留 checkpoint-600 作为垂类候选，并保留通用 API 路线。
当前证据不足以支持自主 Agent 上线或领域事实正确率承诺。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A99BC956-23E9-4548-8F10-6FD5252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所有建议均未自动改动数据或重训；原始结果、脚本与 PNG 图已归档于 experiment/。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7A555595-7F41-47C8-813E-8F369CC1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7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07 / 07</a:t>
            </a:r>
          </a:p>
        </p:txBody>
      </p:sp>
    </p:spTree>
    <p:extLst>
      <p:ext uri="{BB962C8B-B14F-4D97-AF65-F5344CB8AC3E}">
        <p14:creationId xmlns:p14="http://schemas.microsoft.com/office/powerpoint/2010/main" val="99949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2026-10-14T07:19:19.9960000Z</dcterms:created>
  <dcterms:modified xsi:type="dcterms:W3CDTF">2026-10-14T07:19:19.9960000Z</dcterms:modified>
</coreProperties>
</file>